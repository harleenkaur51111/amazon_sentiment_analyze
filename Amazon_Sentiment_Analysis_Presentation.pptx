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FCE4E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COURSE-END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Product Review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</a:t>
            </a:r>
            <a:pPr indent="0" marL="0">
              <a:buNone/>
            </a:pPr>
            <a:r>
              <a:rPr lang="en-US" sz="44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customer sentiment across 4,000+ Amazon reviews using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ML, deep learning, and topic modeling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5230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3,942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Reviews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51663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5230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93.7%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5715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51663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5230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5715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Macro F1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class imbalance problem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587752"/>
            <a:ext cx="594360" cy="594360"/>
          </a:xfrm>
          <a:prstGeom prst="ellipse">
            <a:avLst/>
          </a:prstGeom>
          <a:solidFill>
            <a:srgbClr val="FCE4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491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694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63040" y="2907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vs. under-sampling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483864"/>
            <a:ext cx="594360" cy="5943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2102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4655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63040" y="38039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SVM, XGBoost, and LSTM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379976"/>
            <a:ext cx="594360" cy="594360"/>
          </a:xfrm>
          <a:prstGeom prst="ellipse">
            <a:avLst/>
          </a:prstGeom>
          <a:solidFill>
            <a:srgbClr val="FCE4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1713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361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463040" y="47000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themes with NMF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276088"/>
            <a:ext cx="594360" cy="59436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1324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463040" y="5596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and key business insights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315200" y="160020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E8F5E9"/>
          </a:solidFill>
          <a:ln/>
        </p:spPr>
      </p:sp>
      <p:sp>
        <p:nvSpPr>
          <p:cNvPr id="25" name="Text 18"/>
          <p:cNvSpPr/>
          <p:nvPr/>
        </p:nvSpPr>
        <p:spPr>
          <a:xfrm>
            <a:off x="7315200" y="21945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0" dirty="0"/>
          </a:p>
        </p:txBody>
      </p:sp>
      <p:sp>
        <p:nvSpPr>
          <p:cNvPr id="26" name="Text 19"/>
          <p:cNvSpPr/>
          <p:nvPr/>
        </p:nvSpPr>
        <p:spPr>
          <a:xfrm>
            <a:off x="7315200" y="37490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Project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7589520" y="4572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imbalanced reviews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deployable sentiment classifier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34,000+ Reviews, One Big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Amazon product reviews labeled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After cleaning, our training set held 3,942 reviews — but the classes were severely imbalanced.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1868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468880" y="31089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CE4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242816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41330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reviews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157216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266944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515721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400" dirty="0"/>
          </a:p>
        </p:txBody>
      </p:sp>
      <p:pic>
        <p:nvPicPr>
          <p:cNvPr id="14" name="Image 0" descr="/home/claude/pptx_assets/chart_sentimen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4937760" cy="31729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20840" y="4663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Sentiment class distribution in training data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720840" y="51206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533095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06640" y="5166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could hit 93.7% accuracy by always predicting “Positive” — and learn nothing.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Reviewers Write More</a:t>
            </a:r>
            <a:endParaRPr lang="en-US" sz="3000" dirty="0"/>
          </a:p>
        </p:txBody>
      </p:sp>
      <p:pic>
        <p:nvPicPr>
          <p:cNvPr id="4" name="Image 0" descr="/home/claude/pptx_assets/chart_review_leng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76479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~51 words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0" y="2075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Negative review length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2816352"/>
            <a:ext cx="201168" cy="201168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~37 words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0" y="3127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Neutral review length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49440" y="3867912"/>
            <a:ext cx="201168" cy="20116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words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315200" y="4178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Positive review length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949440" y="49834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customers explain complaints in detail, while positive reviews are often short praise (“Great!”, “Love it!”). This became useful context for feature engineering.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Model-Ready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9443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40156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punctuation, remove URLs &amp; encoding artifacts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10712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1965960"/>
            <a:ext cx="640080" cy="640080"/>
          </a:xfrm>
          <a:prstGeom prst="ellipse">
            <a:avLst/>
          </a:prstGeom>
          <a:solidFill>
            <a:srgbClr val="FCE4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1214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697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39312" y="29443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39312" y="340156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English stopwords (the, is, and...)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62472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72784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01384" y="1965960"/>
            <a:ext cx="640080" cy="64008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2140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01384" y="2697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501384" y="29443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01384" y="340156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4,619 weighted word features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924544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134856" y="169164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63456" y="1965960"/>
            <a:ext cx="640080" cy="640080"/>
          </a:xfrm>
          <a:prstGeom prst="ellipse">
            <a:avLst/>
          </a:prstGeom>
          <a:solidFill>
            <a:srgbClr val="FCE4E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21214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63456" y="2697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363456" y="29443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363456" y="3401568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VADER sentiment score (-1 to +1) per review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F5E9"/>
          </a:solidFill>
          <a:ln/>
        </p:spPr>
      </p:sp>
      <p:sp>
        <p:nvSpPr>
          <p:cNvPr id="32" name="Shape 26"/>
          <p:cNvSpPr/>
          <p:nvPr/>
        </p:nvSpPr>
        <p:spPr>
          <a:xfrm>
            <a:off x="777240" y="5376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6811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17320" y="5212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validation: avg. score by true label — Negative ≈ –0.13, Neutral ≈ 0.37, Positive ≈ 0.67 (confirms real signal)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IMBALANCE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 vs. Under-Sampling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minority examples by interpolating between real reviews — keeps all real data intact.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01752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(Naive Bayes)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297680"/>
            <a:ext cx="4617720" cy="54864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42569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4297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Strategy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19659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UNDER-SAMPLING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3774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majority class to match the smallest — discards ~97% of real Positive examples.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29400" y="3246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873252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(Naive Bayes)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29400" y="4297680"/>
            <a:ext cx="4617720" cy="54864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6812280" y="4297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90 examples/class — too little data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Models, One Clear Winner</a:t>
            </a:r>
            <a:endParaRPr lang="en-US" sz="3000" dirty="0"/>
          </a:p>
        </p:txBody>
      </p:sp>
      <p:pic>
        <p:nvPicPr>
          <p:cNvPr id="4" name="Image 0" descr="/home/claude/pptx_assets/chart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95528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60020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E8F5E9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239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23960" y="2057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+ SMOTE 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Score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23960" y="2788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 Macro F1  •  93.7% Accuracy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95360" y="3657600"/>
            <a:ext cx="3063240" cy="210312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SVM won: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823960" y="4160520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sparse, high-dimensional TF-IDF features better than tree-based models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 score added signal beyond word frequency alone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Comparison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023360"/>
        </p:xfrm>
        <a:graphic>
          <a:graphicData uri="http://schemas.openxmlformats.org/drawingml/2006/table">
            <a:tbl>
              <a:tblPr/>
              <a:tblGrid>
                <a:gridCol w="3108960"/>
                <a:gridCol w="1591056"/>
                <a:gridCol w="1591056"/>
                <a:gridCol w="1591056"/>
                <a:gridCol w="1591056"/>
                <a:gridCol w="1591056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Negative 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Neutral 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Positive 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E33"/>
                          </a:solidFill>
                        </a:rPr>
                        <a:t>Naive Bayes (baseline)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93.7%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0.97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0.32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E33"/>
                          </a:solidFill>
                        </a:rPr>
                        <a:t>Naive Bayes + SMOTE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86.3%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0.36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0.27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0.93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0.52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E33"/>
                          </a:solidFill>
                        </a:rPr>
                        <a:t>Naive Bayes + Under-sampling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66.9%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0.21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0.16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0.39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E33"/>
                          </a:solidFill>
                        </a:rPr>
                        <a:t>Multi-class SVM + SMOTE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93.5%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0.43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0.38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0.97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0.59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E33"/>
                          </a:solidFill>
                        </a:rPr>
                        <a:t>XGBoost + SMOTE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93.3%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0.39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0.32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0.97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0.56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C1259"/>
                          </a:solidFill>
                        </a:rPr>
                        <a:t>SVM + SMOTE + Sentiment Score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C1259"/>
                          </a:solidFill>
                        </a:rPr>
                        <a:t>93.7%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C1259"/>
                          </a:solidFill>
                        </a:rPr>
                        <a:t>0.57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C1259"/>
                          </a:solidFill>
                        </a:rPr>
                        <a:t>0.35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C1259"/>
                          </a:solidFill>
                        </a:rPr>
                        <a:t>0.97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C1259"/>
                          </a:solidFill>
                        </a:rPr>
                        <a:t>0.63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2E33"/>
                          </a:solidFill>
                        </a:rPr>
                        <a:t>LSTM (safely oversampled)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93.8%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0.08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0.97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E33"/>
                          </a:solidFill>
                        </a:rPr>
                        <a:t>0.35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— not raw accuracy — is the right metric here, since it weighs all three classes equally rather than rewarding majority-class bias.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ATTEMPT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LSTM: Four Tries, One Honest Lesson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sequences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Interpolating word-index integers produced meaningless data — model failed completely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" y="2148840"/>
            <a:ext cx="0" cy="411480"/>
          </a:xfrm>
          <a:prstGeom prst="line">
            <a:avLst/>
          </a:prstGeom>
          <a:noFill/>
          <a:ln w="19050">
            <a:solidFill>
              <a:srgbClr val="DDDDD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0" y="25146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too extreme + default learning rate → unstable, erratic accuracy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3063240"/>
            <a:ext cx="0" cy="411480"/>
          </a:xfrm>
          <a:prstGeom prst="line">
            <a:avLst/>
          </a:prstGeom>
          <a:noFill/>
          <a:ln w="19050">
            <a:solidFill>
              <a:srgbClr val="DDDDD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429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Softened weights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stabilized, but model collapsed to predicting only “Positive”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977640"/>
            <a:ext cx="0" cy="411480"/>
          </a:xfrm>
          <a:prstGeom prst="line">
            <a:avLst/>
          </a:prstGeom>
          <a:noFill/>
          <a:ln w="19050">
            <a:solidFill>
              <a:srgbClr val="DDDDD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343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text oversampling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14800" y="43434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approach, real learning began — but still constrained by limited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7635240" cy="685800"/>
          </a:xfrm>
          <a:prstGeom prst="roundRect">
            <a:avLst>
              <a:gd name="adj" fmla="val 10667"/>
            </a:avLst>
          </a:prstGeom>
          <a:solidFill>
            <a:srgbClr val="E8F5E9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87568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80160" y="55321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deep learning needs more diverse minority-class data than this dataset provides — not just more epochs.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503920" y="1645920"/>
            <a:ext cx="3154680" cy="3657600"/>
          </a:xfrm>
          <a:prstGeom prst="roundRect">
            <a:avLst>
              <a:gd name="adj" fmla="val 3478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418320" y="18105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3200" dirty="0"/>
          </a:p>
        </p:txBody>
      </p:sp>
      <p:sp>
        <p:nvSpPr>
          <p:cNvPr id="29" name="Text 25"/>
          <p:cNvSpPr/>
          <p:nvPr/>
        </p:nvSpPr>
        <p:spPr>
          <a:xfrm>
            <a:off x="8732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Macro F1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732520" y="2971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“Positive” for 999 of 1,000 test reviews.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732520" y="3657600"/>
            <a:ext cx="2697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only 90 real Negative and 158 real Neutral reviews — not enough diversity for a data-hungry neural network to generalize, even after oversampling.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Customers Talking About?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NMF (Non-Negative Matrix Factorization) on the TF-IDF matrix, five clear themes emerged — independent of sentiment labels: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743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Tablets / Reading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tablet, kindle, fire, books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4681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214884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2377440"/>
            <a:ext cx="274320" cy="2743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3" name="Text 11"/>
          <p:cNvSpPr/>
          <p:nvPr/>
        </p:nvSpPr>
        <p:spPr>
          <a:xfrm>
            <a:off x="2953512" y="2743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53512" y="33101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loves, gift, christmas, daughter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53512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53512" y="4681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84064" y="214884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66944" y="2377440"/>
            <a:ext cx="274320" cy="2743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9" name="Text 17"/>
          <p:cNvSpPr/>
          <p:nvPr/>
        </p:nvSpPr>
        <p:spPr>
          <a:xfrm>
            <a:off x="5221224" y="2743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/ Alexa Devices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1224" y="33101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echo, alexa, show, music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21224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21224" y="4681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51776" y="214884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34656" y="2377440"/>
            <a:ext cx="274320" cy="27432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7488936" y="2743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Ease of Setup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88936" y="33101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use, setup, navigate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88936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88936" y="4681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19488" y="2148840"/>
            <a:ext cx="2148840" cy="32004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02368" y="2377440"/>
            <a:ext cx="274320" cy="27432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1" name="Text 29"/>
          <p:cNvSpPr/>
          <p:nvPr/>
        </p:nvSpPr>
        <p:spPr>
          <a:xfrm>
            <a:off x="9756648" y="2743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/ Recommendation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56648" y="33101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great, product, price, recommend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56648" y="4160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756648" y="4681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3288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80160" y="5577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Tablet/Reading reviews generate ~4x more complaints than Setup or Value topics — a clear, actionable business signal.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 on Unseen Reviews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(SVM + SMOTE + Sentiment Score) was applied to 1,000 real, unlabeled reviews from test_data.csv: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Positive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0" y="2377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CE4E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5603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1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Neutral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DEC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5603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Negative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4515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25880" y="45262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closely matches the true hidden-test distribution (937 / 39 / 24) — confirming the model generalizes reliably to genuinely new data.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408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True Distribution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321040" y="2258568"/>
            <a:ext cx="3087746" cy="256032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0" name="Text 17"/>
          <p:cNvSpPr/>
          <p:nvPr/>
        </p:nvSpPr>
        <p:spPr>
          <a:xfrm>
            <a:off x="11500226" y="22037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21040" y="2715768"/>
            <a:ext cx="3084454" cy="256032"/>
          </a:xfrm>
          <a:prstGeom prst="rect">
            <a:avLst/>
          </a:prstGeom>
          <a:solidFill>
            <a:srgbClr val="2E7D4F">
              <a:alpha val="4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1496934" y="26609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04088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21040" y="3310128"/>
            <a:ext cx="131674" cy="2560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5" name="Text 22"/>
          <p:cNvSpPr/>
          <p:nvPr/>
        </p:nvSpPr>
        <p:spPr>
          <a:xfrm>
            <a:off x="8544154" y="325526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321040" y="3767328"/>
            <a:ext cx="128382" cy="256032"/>
          </a:xfrm>
          <a:prstGeom prst="rect">
            <a:avLst/>
          </a:prstGeom>
          <a:solidFill>
            <a:srgbClr val="E91E8C">
              <a:alpha val="4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540862" y="371246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040880" y="4343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321040" y="4361688"/>
            <a:ext cx="7242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7"/>
          <p:cNvSpPr/>
          <p:nvPr/>
        </p:nvSpPr>
        <p:spPr>
          <a:xfrm>
            <a:off x="8484900" y="430682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321040" y="4818888"/>
            <a:ext cx="79004" cy="256032"/>
          </a:xfrm>
          <a:prstGeom prst="rect">
            <a:avLst/>
          </a:prstGeom>
          <a:solidFill>
            <a:srgbClr val="C0392B">
              <a:alpha val="45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491484" y="476402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04088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predicted   ·   light = true (hidden test)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Sentiment Analysis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760720"/>
            <a:ext cx="2926080" cy="292608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ML Beat Deep Learning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305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0299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on imbalanced data — macro F1 told the real story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889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8833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outperformed under-sampling by preserving real training data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4728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34670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TF-IDF + engineered sentiment score was the best model: 0.63 macro F1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0565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0050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underperformed — too little minority-class data for deep learning to generalize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64024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663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revealed tablets generate ~4x more complaints than other product types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73152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B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Product Review Sentiment Analysis</dc:title>
  <dc:subject>PptxGenJS Presentation</dc:subject>
  <dc:creator>Course-End Project</dc:creator>
  <cp:lastModifiedBy>Course-End Project</cp:lastModifiedBy>
  <cp:revision>1</cp:revision>
  <dcterms:created xsi:type="dcterms:W3CDTF">2026-06-23T09:18:57Z</dcterms:created>
  <dcterms:modified xsi:type="dcterms:W3CDTF">2026-06-23T09:18:57Z</dcterms:modified>
</cp:coreProperties>
</file>